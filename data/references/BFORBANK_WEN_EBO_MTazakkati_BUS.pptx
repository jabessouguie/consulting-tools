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Montserrat"/>
      <p:bold r:id="rId7"/>
      <p:boldItalic r:id="rId8"/>
    </p:embeddedFont>
    <p:embeddedFont>
      <p:font typeface="Poppins"/>
      <p:bold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Poppins-boldItalic.fntdata"/><Relationship Id="rId9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-bold.fntdata"/><Relationship Id="rId8" Type="http://schemas.openxmlformats.org/officeDocument/2006/relationships/font" Target="fonts/Montserra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128842086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2" name="Google Shape;52;SLIDES_API128842086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3" name="Google Shape;53;SLIDES_API128842086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SLIDES_API128842086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Horodateur: 05/01/2026 14:31:14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Ton nom: Tazakkati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Ton prénom: Malik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1️⃣ Chez quel client mènes-tu actuellement ta mission de conseil ? (si pas encore dans la liste, contacte Raphael Barberon pour faire rajouter):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2️⃣ Dans quel secteur d'activité opère ton client ?: Banque Finance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3️⃣ Quelle est l'envergure de l'entreprise cliente (ou du groupe auquel elle appartient) ?: entre 250 et 5000 salariés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4️⃣ Sur quels aspects porte principalement ta mission de conseil ?: IA / GenAI, Product, Transformation des organisations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5️⃣ À quel univers es-tu rattaché.e au sein de notre entreprise ?: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1️⃣ Quels sont les principaux décideurs ou parties prenantes impliqués dans ta mission de conseil ?: Direction Transformation, Organisation et Innovation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2️⃣ Quels étaient les défis stratégiques IT majeurs de ton client avant ton/notre intervention ?: Proposer aux collaborateurs de l'entreprise une plateforme d'IA générative sécurisée et simple d'utilisation.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3️⃣ Quelles sont les principales recommandations ou initiatives stratégiques que tu/nous as/avons proposées et les livrables associés ?: Déployer Raise et accompagner les collaborateurs dans sa prise en main.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4️⃣ Peux-tu décrire l'impact de tes recommandations (ex: réduction des coûts IT, amélioration de l'efficacité opérationnelle, accélération de la transformation digitale)  et les KPIs qui ont été mis en place pour mesurer les solutions apportées ?: Accélération de la transformation digitale : le nombre d'utilisateurs a plus que triplé sur le temps de la mission (150 -&gt; 400)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5️⃣ Quelles technologies ou solutions innovantes as-tu recommandées dans ta stratégie ?: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6️⃣  Quelle est la durée prévue de ta mission de conseil ?: Entre 6 mois &amp; 1 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1️⃣ Travailles-tu avec des solutions de nos partenaires technologiques ?: Aucun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2️⃣ Travailles-tu avec des solutions d'éditeurs technologiques non mentionnées dans la liste ci-dessus ? Si oui, lesquelles ? : Non.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3️⃣ Quels frameworks ou méthodologies d as-tu utilisés ou recommandés ? Ex. Center for Excellence, Target Operating Model, Blue Print, etc.): Création de communautés d'utilisateurs + Montée en compétences des collaborateurs (Onboarding, Workshops, Lunch &amp; Learn)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1️⃣  Comment accompagne-t-on le client dans cette mission ?: En régie chez le client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3️⃣ Qui sont les acteurs du conseil (ESN/conseil) présents sur place chez le client ?: TNP, 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4️⃣ Sur quelle durée s'étend la phase de définition et d'implémentation de la stratégie IT ?: Non applicable ici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5️⃣ Ta mission s'inscrit-elle dans le cadre d'une initiative de transformation plus large chez le client ?: Oui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6️⃣ Si oui, peux-tu nous en dire plus sur la portée et les objectifs de cette transformation ?: Raise est l'un des outils IA déployés par l'entreprise aux côtés de Microsoft Copilot. L'objectif est de permettre la transformation des process métiers par l'intégration de l'IA.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2️⃣  Si dispositif WEnvision ou SFEIR/WEnvision, quel est le détail des équipes mobilisées ?: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Adresse e-mail: malik@wenvision.com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1️⃣ Chez quel client mènes-tu actuellement ta mission de conseil ? (si pas encore dans la liste, contacte Claire-Gil pour faire rajouter): BFORBANK</a:t>
            </a:r>
            <a:r>
              <a:rPr lang="fr"/>
              <a:t> </a:t>
            </a:r>
            <a:endParaRPr/>
          </a:p>
        </p:txBody>
      </p:sp>
      <p:sp>
        <p:nvSpPr>
          <p:cNvPr id="55" name="Google Shape;55;SLIDES_API128842086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" name="Google Shape;56;SLIDES_API128842086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/>
          <p:nvPr/>
        </p:nvSpPr>
        <p:spPr>
          <a:xfrm>
            <a:off x="8435280" y="4869822"/>
            <a:ext cx="601304" cy="90170"/>
          </a:xfrm>
          <a:custGeom>
            <a:rect b="b" l="l" r="r" t="t"/>
            <a:pathLst>
              <a:path extrusionOk="0" h="180340" w="1202608">
                <a:moveTo>
                  <a:pt x="0" y="0"/>
                </a:moveTo>
                <a:lnTo>
                  <a:pt x="1202608" y="0"/>
                </a:lnTo>
                <a:lnTo>
                  <a:pt x="1202608" y="180340"/>
                </a:lnTo>
                <a:lnTo>
                  <a:pt x="0" y="180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" name="Google Shape;59;p13"/>
          <p:cNvSpPr/>
          <p:nvPr/>
        </p:nvSpPr>
        <p:spPr>
          <a:xfrm>
            <a:off x="0" y="5114326"/>
            <a:ext cx="9144000" cy="23050"/>
          </a:xfrm>
          <a:custGeom>
            <a:rect b="b" l="l" r="r" t="t"/>
            <a:pathLst>
              <a:path extrusionOk="0" h="61468" w="24384000">
                <a:moveTo>
                  <a:pt x="24384000" y="0"/>
                </a:moveTo>
                <a:lnTo>
                  <a:pt x="0" y="0"/>
                </a:lnTo>
                <a:lnTo>
                  <a:pt x="0" y="61468"/>
                </a:lnTo>
                <a:lnTo>
                  <a:pt x="24384000" y="61468"/>
                </a:lnTo>
                <a:lnTo>
                  <a:pt x="24384000" y="0"/>
                </a:lnTo>
                <a:close/>
              </a:path>
            </a:pathLst>
          </a:custGeom>
          <a:solidFill>
            <a:srgbClr val="E51951"/>
          </a:solidFill>
          <a:ln>
            <a:noFill/>
          </a:ln>
        </p:spPr>
      </p:sp>
      <p:sp>
        <p:nvSpPr>
          <p:cNvPr id="60" name="Google Shape;60;p13"/>
          <p:cNvSpPr/>
          <p:nvPr/>
        </p:nvSpPr>
        <p:spPr>
          <a:xfrm>
            <a:off x="707299" y="705735"/>
            <a:ext cx="492490" cy="9525"/>
          </a:xfrm>
          <a:custGeom>
            <a:rect b="b" l="l" r="r" t="t"/>
            <a:pathLst>
              <a:path extrusionOk="0" h="25400" w="1313307">
                <a:moveTo>
                  <a:pt x="1313307" y="25400"/>
                </a:moveTo>
                <a:lnTo>
                  <a:pt x="0" y="25400"/>
                </a:lnTo>
                <a:lnTo>
                  <a:pt x="0" y="0"/>
                </a:lnTo>
                <a:lnTo>
                  <a:pt x="1313307" y="0"/>
                </a:lnTo>
                <a:close/>
              </a:path>
            </a:pathLst>
          </a:custGeom>
          <a:solidFill>
            <a:srgbClr val="E51951"/>
          </a:solidFill>
          <a:ln>
            <a:noFill/>
          </a:ln>
        </p:spPr>
      </p:sp>
      <p:grpSp>
        <p:nvGrpSpPr>
          <p:cNvPr id="61" name="Google Shape;61;p13"/>
          <p:cNvGrpSpPr/>
          <p:nvPr/>
        </p:nvGrpSpPr>
        <p:grpSpPr>
          <a:xfrm>
            <a:off x="421600" y="3729900"/>
            <a:ext cx="2108138" cy="307547"/>
            <a:chOff x="0" y="0"/>
            <a:chExt cx="5621700" cy="820125"/>
          </a:xfrm>
        </p:grpSpPr>
        <p:sp>
          <p:nvSpPr>
            <p:cNvPr id="62" name="Google Shape;62;p13"/>
            <p:cNvSpPr/>
            <p:nvPr/>
          </p:nvSpPr>
          <p:spPr>
            <a:xfrm>
              <a:off x="0" y="0"/>
              <a:ext cx="5621655" cy="820039"/>
            </a:xfrm>
            <a:custGeom>
              <a:rect b="b" l="l" r="r" t="t"/>
              <a:pathLst>
                <a:path extrusionOk="0" h="820039" w="5621655">
                  <a:moveTo>
                    <a:pt x="0" y="89789"/>
                  </a:moveTo>
                  <a:cubicBezTo>
                    <a:pt x="0" y="40259"/>
                    <a:pt x="40259" y="0"/>
                    <a:pt x="89789" y="0"/>
                  </a:cubicBezTo>
                  <a:lnTo>
                    <a:pt x="5531866" y="0"/>
                  </a:lnTo>
                  <a:cubicBezTo>
                    <a:pt x="5581396" y="0"/>
                    <a:pt x="5621655" y="40259"/>
                    <a:pt x="5621655" y="89789"/>
                  </a:cubicBezTo>
                  <a:lnTo>
                    <a:pt x="5621655" y="730250"/>
                  </a:lnTo>
                  <a:cubicBezTo>
                    <a:pt x="5621655" y="779780"/>
                    <a:pt x="5581396" y="820039"/>
                    <a:pt x="5531866" y="820039"/>
                  </a:cubicBezTo>
                  <a:lnTo>
                    <a:pt x="89789" y="820039"/>
                  </a:lnTo>
                  <a:cubicBezTo>
                    <a:pt x="40259" y="820039"/>
                    <a:pt x="0" y="779780"/>
                    <a:pt x="0" y="7302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 txBox="1"/>
            <p:nvPr/>
          </p:nvSpPr>
          <p:spPr>
            <a:xfrm>
              <a:off x="0" y="9525"/>
              <a:ext cx="5621700" cy="8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Résultats</a:t>
              </a:r>
              <a:endParaRPr sz="700"/>
            </a:p>
          </p:txBody>
        </p:sp>
      </p:grpSp>
      <p:grpSp>
        <p:nvGrpSpPr>
          <p:cNvPr id="64" name="Google Shape;64;p13"/>
          <p:cNvGrpSpPr/>
          <p:nvPr/>
        </p:nvGrpSpPr>
        <p:grpSpPr>
          <a:xfrm>
            <a:off x="286443" y="20680"/>
            <a:ext cx="5724908" cy="702789"/>
            <a:chOff x="0" y="-195267"/>
            <a:chExt cx="15266422" cy="1874105"/>
          </a:xfrm>
        </p:grpSpPr>
        <p:sp>
          <p:nvSpPr>
            <p:cNvPr id="65" name="Google Shape;65;p13"/>
            <p:cNvSpPr/>
            <p:nvPr/>
          </p:nvSpPr>
          <p:spPr>
            <a:xfrm>
              <a:off x="0" y="0"/>
              <a:ext cx="15266422" cy="1678838"/>
            </a:xfrm>
            <a:custGeom>
              <a:rect b="b" l="l" r="r" t="t"/>
              <a:pathLst>
                <a:path extrusionOk="0" h="1678838" w="15266422">
                  <a:moveTo>
                    <a:pt x="0" y="0"/>
                  </a:moveTo>
                  <a:lnTo>
                    <a:pt x="15266422" y="0"/>
                  </a:lnTo>
                  <a:lnTo>
                    <a:pt x="15266422" y="1678838"/>
                  </a:lnTo>
                  <a:lnTo>
                    <a:pt x="0" y="1678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6" name="Google Shape;66;p13"/>
            <p:cNvSpPr txBox="1"/>
            <p:nvPr/>
          </p:nvSpPr>
          <p:spPr>
            <a:xfrm>
              <a:off x="0" y="-195267"/>
              <a:ext cx="15266400" cy="167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800">
                  <a:latin typeface="Montserrat"/>
                  <a:ea typeface="Montserrat"/>
                  <a:cs typeface="Montserrat"/>
                  <a:sym typeface="Montserrat"/>
                </a:rPr>
                <a:t>Déploiement d'une plateforme d'IA générative sécurisée</a:t>
              </a:r>
              <a:endParaRPr sz="700"/>
            </a:p>
          </p:txBody>
        </p:sp>
      </p:grpSp>
      <p:sp>
        <p:nvSpPr>
          <p:cNvPr id="67" name="Google Shape;67;p13"/>
          <p:cNvSpPr/>
          <p:nvPr/>
        </p:nvSpPr>
        <p:spPr>
          <a:xfrm>
            <a:off x="421600" y="3997750"/>
            <a:ext cx="7916085" cy="1016699"/>
          </a:xfrm>
          <a:custGeom>
            <a:rect b="b" l="l" r="r" t="t"/>
            <a:pathLst>
              <a:path extrusionOk="0" h="2711196" w="21109560">
                <a:moveTo>
                  <a:pt x="0" y="0"/>
                </a:moveTo>
                <a:lnTo>
                  <a:pt x="21109560" y="0"/>
                </a:lnTo>
                <a:lnTo>
                  <a:pt x="21109560" y="2711196"/>
                </a:lnTo>
                <a:lnTo>
                  <a:pt x="0" y="2711196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</p:sp>
      <p:grpSp>
        <p:nvGrpSpPr>
          <p:cNvPr id="68" name="Google Shape;68;p13"/>
          <p:cNvGrpSpPr/>
          <p:nvPr/>
        </p:nvGrpSpPr>
        <p:grpSpPr>
          <a:xfrm>
            <a:off x="421600" y="1031675"/>
            <a:ext cx="2108138" cy="307547"/>
            <a:chOff x="0" y="0"/>
            <a:chExt cx="5621700" cy="820125"/>
          </a:xfrm>
        </p:grpSpPr>
        <p:sp>
          <p:nvSpPr>
            <p:cNvPr id="69" name="Google Shape;69;p13"/>
            <p:cNvSpPr/>
            <p:nvPr/>
          </p:nvSpPr>
          <p:spPr>
            <a:xfrm>
              <a:off x="0" y="0"/>
              <a:ext cx="5621655" cy="820039"/>
            </a:xfrm>
            <a:custGeom>
              <a:rect b="b" l="l" r="r" t="t"/>
              <a:pathLst>
                <a:path extrusionOk="0" h="820039" w="5621655">
                  <a:moveTo>
                    <a:pt x="0" y="89789"/>
                  </a:moveTo>
                  <a:cubicBezTo>
                    <a:pt x="0" y="40259"/>
                    <a:pt x="40259" y="0"/>
                    <a:pt x="89789" y="0"/>
                  </a:cubicBezTo>
                  <a:lnTo>
                    <a:pt x="5531866" y="0"/>
                  </a:lnTo>
                  <a:cubicBezTo>
                    <a:pt x="5581396" y="0"/>
                    <a:pt x="5621655" y="40259"/>
                    <a:pt x="5621655" y="89789"/>
                  </a:cubicBezTo>
                  <a:lnTo>
                    <a:pt x="5621655" y="730250"/>
                  </a:lnTo>
                  <a:cubicBezTo>
                    <a:pt x="5621655" y="779780"/>
                    <a:pt x="5581396" y="820039"/>
                    <a:pt x="5531866" y="820039"/>
                  </a:cubicBezTo>
                  <a:lnTo>
                    <a:pt x="89789" y="820039"/>
                  </a:lnTo>
                  <a:cubicBezTo>
                    <a:pt x="40259" y="820039"/>
                    <a:pt x="0" y="779780"/>
                    <a:pt x="0" y="730250"/>
                  </a:cubicBezTo>
                  <a:close/>
                </a:path>
              </a:pathLst>
            </a:custGeom>
            <a:solidFill>
              <a:srgbClr val="E5195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 txBox="1"/>
            <p:nvPr/>
          </p:nvSpPr>
          <p:spPr>
            <a:xfrm>
              <a:off x="0" y="9525"/>
              <a:ext cx="5621700" cy="81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Contexte et démarche</a:t>
              </a:r>
              <a:endParaRPr sz="700"/>
            </a:p>
          </p:txBody>
        </p:sp>
      </p:grpSp>
      <p:grpSp>
        <p:nvGrpSpPr>
          <p:cNvPr id="71" name="Google Shape;71;p13"/>
          <p:cNvGrpSpPr/>
          <p:nvPr/>
        </p:nvGrpSpPr>
        <p:grpSpPr>
          <a:xfrm>
            <a:off x="421600" y="1306775"/>
            <a:ext cx="4758109" cy="2309098"/>
            <a:chOff x="0" y="0"/>
            <a:chExt cx="12688290" cy="6157595"/>
          </a:xfrm>
        </p:grpSpPr>
        <p:sp>
          <p:nvSpPr>
            <p:cNvPr id="72" name="Google Shape;72;p13"/>
            <p:cNvSpPr/>
            <p:nvPr/>
          </p:nvSpPr>
          <p:spPr>
            <a:xfrm>
              <a:off x="0" y="0"/>
              <a:ext cx="12688290" cy="6157595"/>
            </a:xfrm>
            <a:custGeom>
              <a:rect b="b" l="l" r="r" t="t"/>
              <a:pathLst>
                <a:path extrusionOk="0" h="6157595" w="12688290">
                  <a:moveTo>
                    <a:pt x="0" y="0"/>
                  </a:moveTo>
                  <a:lnTo>
                    <a:pt x="12688290" y="0"/>
                  </a:lnTo>
                  <a:lnTo>
                    <a:pt x="12688290" y="6157595"/>
                  </a:lnTo>
                  <a:lnTo>
                    <a:pt x="0" y="6157595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</p:sp>
        <p:sp>
          <p:nvSpPr>
            <p:cNvPr id="73" name="Google Shape;73;p13"/>
            <p:cNvSpPr txBox="1"/>
            <p:nvPr/>
          </p:nvSpPr>
          <p:spPr>
            <a:xfrm>
              <a:off x="0" y="0"/>
              <a:ext cx="12688200" cy="61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"/>
                  <a:ea typeface="Montserrat"/>
                  <a:cs typeface="Montserrat"/>
                  <a:sym typeface="Montserrat"/>
                </a:rPr>
                <a:t>BFORBANK souhaite offrir à ses collaborateurs une plateforme d'IA générative à la fois sécurisée et facile à utiliser, afin de stimuler l'innovation et d'améliorer l'efficacité des processus métiers.</a:t>
              </a:r>
              <a:endParaRPr sz="700"/>
            </a:p>
            <a:p>
              <a:pPr indent="0" lvl="0" marL="0" marR="0" rtl="0" algn="l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fr" sz="9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Nous les avons accompagnés pour :</a:t>
              </a:r>
              <a:endParaRPr sz="700"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196850" lvl="1" marL="39370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Char char="•"/>
              </a:pPr>
              <a:r>
                <a:rPr lang="fr" sz="900">
                  <a:latin typeface="Montserrat"/>
                  <a:ea typeface="Montserrat"/>
                  <a:cs typeface="Montserrat"/>
                  <a:sym typeface="Montserrat"/>
                </a:rPr>
                <a:t>le d</a:t>
              </a:r>
              <a:r>
                <a:rPr lang="fr" sz="900">
                  <a:latin typeface="Montserrat"/>
                  <a:ea typeface="Montserrat"/>
                  <a:cs typeface="Montserrat"/>
                  <a:sym typeface="Montserrat"/>
                </a:rPr>
                <a:t>éploiement de la plateforme Raise</a:t>
              </a:r>
              <a:endParaRPr sz="9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196850" lvl="1" marL="39370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Char char="•"/>
              </a:pPr>
              <a:r>
                <a:rPr lang="fr" sz="9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l’a</a:t>
              </a:r>
              <a:r>
                <a:rPr lang="fr" sz="9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ccompagnement des collaborateurs dans la prise en main de la plateforme</a:t>
              </a:r>
              <a:endParaRPr sz="700"/>
            </a:p>
            <a:p>
              <a:pPr indent="-196850" lvl="1" marL="39370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Char char="•"/>
              </a:pPr>
              <a:r>
                <a:rPr lang="fr" sz="9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 m</a:t>
              </a:r>
              <a:r>
                <a:rPr lang="fr" sz="9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ise en place, l’animation et la formation de communautés d'utilisateurs.</a:t>
              </a:r>
              <a:endParaRPr sz="700"/>
            </a:p>
          </p:txBody>
        </p:sp>
      </p:grpSp>
      <p:grpSp>
        <p:nvGrpSpPr>
          <p:cNvPr id="74" name="Google Shape;74;p13"/>
          <p:cNvGrpSpPr/>
          <p:nvPr/>
        </p:nvGrpSpPr>
        <p:grpSpPr>
          <a:xfrm>
            <a:off x="2880625" y="4089400"/>
            <a:ext cx="3048000" cy="924963"/>
            <a:chOff x="0" y="0"/>
            <a:chExt cx="8128000" cy="2222400"/>
          </a:xfrm>
        </p:grpSpPr>
        <p:sp>
          <p:nvSpPr>
            <p:cNvPr id="75" name="Google Shape;75;p13"/>
            <p:cNvSpPr/>
            <p:nvPr/>
          </p:nvSpPr>
          <p:spPr>
            <a:xfrm>
              <a:off x="0" y="0"/>
              <a:ext cx="8128000" cy="2222400"/>
            </a:xfrm>
            <a:custGeom>
              <a:rect b="b" l="l" r="r" t="t"/>
              <a:pathLst>
                <a:path extrusionOk="0" h="2222400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2222400"/>
                  </a:lnTo>
                  <a:lnTo>
                    <a:pt x="0" y="2222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6" name="Google Shape;76;p13"/>
            <p:cNvSpPr txBox="1"/>
            <p:nvPr/>
          </p:nvSpPr>
          <p:spPr>
            <a:xfrm>
              <a:off x="0" y="0"/>
              <a:ext cx="8127900" cy="209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27000" lvl="1" marL="26670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lang="fr" sz="1000">
                  <a:latin typeface="Montserrat"/>
                  <a:ea typeface="Montserrat"/>
                  <a:cs typeface="Montserrat"/>
                  <a:sym typeface="Montserrat"/>
                </a:rPr>
                <a:t>Adoption de l'IA générative par les collaborateurs.</a:t>
              </a:r>
              <a:endParaRPr sz="700"/>
            </a:p>
            <a:p>
              <a:pPr indent="-127000" lvl="1" marL="26670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lang="fr" sz="1000">
                  <a:latin typeface="Montserrat"/>
                  <a:ea typeface="Montserrat"/>
                  <a:cs typeface="Montserrat"/>
                  <a:sym typeface="Montserrat"/>
                </a:rPr>
                <a:t>Transformation des processus métiers grâce à l'IA.</a:t>
              </a:r>
              <a:endParaRPr sz="700"/>
            </a:p>
            <a:p>
              <a:pPr indent="-127000" lvl="1" marL="26670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lang="fr" sz="1000">
                  <a:latin typeface="Montserrat"/>
                  <a:ea typeface="Montserrat"/>
                  <a:cs typeface="Montserrat"/>
                  <a:sym typeface="Montserrat"/>
                </a:rPr>
                <a:t>Sécurisation de l'utilisation de l'IA.</a:t>
              </a:r>
              <a:endParaRPr sz="700"/>
            </a:p>
          </p:txBody>
        </p:sp>
      </p:grpSp>
      <p:grpSp>
        <p:nvGrpSpPr>
          <p:cNvPr id="77" name="Google Shape;77;p13"/>
          <p:cNvGrpSpPr/>
          <p:nvPr/>
        </p:nvGrpSpPr>
        <p:grpSpPr>
          <a:xfrm>
            <a:off x="6196925" y="4089400"/>
            <a:ext cx="1969196" cy="833400"/>
            <a:chOff x="0" y="0"/>
            <a:chExt cx="4232100" cy="2222400"/>
          </a:xfrm>
        </p:grpSpPr>
        <p:sp>
          <p:nvSpPr>
            <p:cNvPr id="78" name="Google Shape;78;p13"/>
            <p:cNvSpPr/>
            <p:nvPr/>
          </p:nvSpPr>
          <p:spPr>
            <a:xfrm>
              <a:off x="0" y="0"/>
              <a:ext cx="4232000" cy="2222400"/>
            </a:xfrm>
            <a:custGeom>
              <a:rect b="b" l="l" r="r" t="t"/>
              <a:pathLst>
                <a:path extrusionOk="0" h="2222400" w="4232000">
                  <a:moveTo>
                    <a:pt x="0" y="0"/>
                  </a:moveTo>
                  <a:lnTo>
                    <a:pt x="4232000" y="0"/>
                  </a:lnTo>
                  <a:lnTo>
                    <a:pt x="4232000" y="2222400"/>
                  </a:lnTo>
                  <a:lnTo>
                    <a:pt x="0" y="2222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9" name="Google Shape;79;p13"/>
            <p:cNvSpPr txBox="1"/>
            <p:nvPr/>
          </p:nvSpPr>
          <p:spPr>
            <a:xfrm>
              <a:off x="0" y="0"/>
              <a:ext cx="4232100" cy="22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>
                  <a:latin typeface="Montserrat"/>
                  <a:ea typeface="Montserrat"/>
                  <a:cs typeface="Montserrat"/>
                  <a:sym typeface="Montserrat"/>
                </a:rPr>
                <a:t>Déploiement et accompagnement à l'utilisation de la plateforme Raise.</a:t>
              </a:r>
              <a:endParaRPr sz="7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0" name="Google Shape;80;p13"/>
          <p:cNvGrpSpPr/>
          <p:nvPr/>
        </p:nvGrpSpPr>
        <p:grpSpPr>
          <a:xfrm>
            <a:off x="625125" y="4089400"/>
            <a:ext cx="2002637" cy="833400"/>
            <a:chOff x="0" y="0"/>
            <a:chExt cx="5088000" cy="2222400"/>
          </a:xfrm>
        </p:grpSpPr>
        <p:sp>
          <p:nvSpPr>
            <p:cNvPr id="81" name="Google Shape;81;p13"/>
            <p:cNvSpPr/>
            <p:nvPr/>
          </p:nvSpPr>
          <p:spPr>
            <a:xfrm>
              <a:off x="0" y="0"/>
              <a:ext cx="5088000" cy="2222400"/>
            </a:xfrm>
            <a:custGeom>
              <a:rect b="b" l="l" r="r" t="t"/>
              <a:pathLst>
                <a:path extrusionOk="0" h="2222400" w="5088000">
                  <a:moveTo>
                    <a:pt x="0" y="0"/>
                  </a:moveTo>
                  <a:lnTo>
                    <a:pt x="5088000" y="0"/>
                  </a:lnTo>
                  <a:lnTo>
                    <a:pt x="5088000" y="2222400"/>
                  </a:lnTo>
                  <a:lnTo>
                    <a:pt x="0" y="2222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2" name="Google Shape;82;p13"/>
            <p:cNvSpPr txBox="1"/>
            <p:nvPr/>
          </p:nvSpPr>
          <p:spPr>
            <a:xfrm>
              <a:off x="0" y="0"/>
              <a:ext cx="5088000" cy="22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>
                  <a:latin typeface="Montserrat"/>
                  <a:ea typeface="Montserrat"/>
                  <a:cs typeface="Montserrat"/>
                  <a:sym typeface="Montserrat"/>
                </a:rPr>
                <a:t>Plateforme Raise déployée et opérationnelle, guides d'utilisation, ateliers de formation.</a:t>
              </a:r>
              <a:endParaRPr sz="700"/>
            </a:p>
          </p:txBody>
        </p:sp>
      </p:grpSp>
      <p:grpSp>
        <p:nvGrpSpPr>
          <p:cNvPr id="83" name="Google Shape;83;p13"/>
          <p:cNvGrpSpPr/>
          <p:nvPr/>
        </p:nvGrpSpPr>
        <p:grpSpPr>
          <a:xfrm>
            <a:off x="6469167" y="1338481"/>
            <a:ext cx="985171" cy="94774"/>
            <a:chOff x="0" y="0"/>
            <a:chExt cx="2627122" cy="252730"/>
          </a:xfrm>
        </p:grpSpPr>
        <p:sp>
          <p:nvSpPr>
            <p:cNvPr id="84" name="Google Shape;84;p13"/>
            <p:cNvSpPr/>
            <p:nvPr/>
          </p:nvSpPr>
          <p:spPr>
            <a:xfrm>
              <a:off x="12700" y="12700"/>
              <a:ext cx="2601722" cy="227330"/>
            </a:xfrm>
            <a:custGeom>
              <a:rect b="b" l="l" r="r" t="t"/>
              <a:pathLst>
                <a:path extrusionOk="0" h="227330" w="2601722">
                  <a:moveTo>
                    <a:pt x="0" y="0"/>
                  </a:moveTo>
                  <a:lnTo>
                    <a:pt x="2601722" y="0"/>
                  </a:lnTo>
                  <a:lnTo>
                    <a:pt x="2601722" y="227330"/>
                  </a:lnTo>
                  <a:lnTo>
                    <a:pt x="0" y="2273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5" name="Google Shape;85;p13"/>
            <p:cNvSpPr/>
            <p:nvPr/>
          </p:nvSpPr>
          <p:spPr>
            <a:xfrm>
              <a:off x="0" y="0"/>
              <a:ext cx="2627122" cy="252730"/>
            </a:xfrm>
            <a:custGeom>
              <a:rect b="b" l="l" r="r" t="t"/>
              <a:pathLst>
                <a:path extrusionOk="0" h="252730" w="2627122">
                  <a:moveTo>
                    <a:pt x="12700" y="0"/>
                  </a:moveTo>
                  <a:lnTo>
                    <a:pt x="2614422" y="0"/>
                  </a:lnTo>
                  <a:cubicBezTo>
                    <a:pt x="2621407" y="0"/>
                    <a:pt x="2627122" y="5715"/>
                    <a:pt x="2627122" y="12700"/>
                  </a:cubicBezTo>
                  <a:lnTo>
                    <a:pt x="2627122" y="240030"/>
                  </a:lnTo>
                  <a:cubicBezTo>
                    <a:pt x="2627122" y="247015"/>
                    <a:pt x="2621407" y="252730"/>
                    <a:pt x="2614422" y="252730"/>
                  </a:cubicBezTo>
                  <a:lnTo>
                    <a:pt x="12700" y="252730"/>
                  </a:lnTo>
                  <a:cubicBezTo>
                    <a:pt x="5715" y="252730"/>
                    <a:pt x="0" y="247015"/>
                    <a:pt x="0" y="24003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40030"/>
                  </a:lnTo>
                  <a:lnTo>
                    <a:pt x="12700" y="240030"/>
                  </a:lnTo>
                  <a:lnTo>
                    <a:pt x="12700" y="227330"/>
                  </a:lnTo>
                  <a:lnTo>
                    <a:pt x="2614422" y="227330"/>
                  </a:lnTo>
                  <a:lnTo>
                    <a:pt x="2614422" y="240030"/>
                  </a:lnTo>
                  <a:lnTo>
                    <a:pt x="2601722" y="240030"/>
                  </a:lnTo>
                  <a:lnTo>
                    <a:pt x="2601722" y="12700"/>
                  </a:lnTo>
                  <a:lnTo>
                    <a:pt x="2614422" y="12700"/>
                  </a:lnTo>
                  <a:lnTo>
                    <a:pt x="261442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" name="Google Shape;86;p13"/>
          <p:cNvGrpSpPr/>
          <p:nvPr/>
        </p:nvGrpSpPr>
        <p:grpSpPr>
          <a:xfrm>
            <a:off x="6649184" y="602593"/>
            <a:ext cx="2387394" cy="419709"/>
            <a:chOff x="0" y="0"/>
            <a:chExt cx="6366383" cy="1119225"/>
          </a:xfrm>
        </p:grpSpPr>
        <p:sp>
          <p:nvSpPr>
            <p:cNvPr id="87" name="Google Shape;87;p13"/>
            <p:cNvSpPr/>
            <p:nvPr/>
          </p:nvSpPr>
          <p:spPr>
            <a:xfrm>
              <a:off x="0" y="0"/>
              <a:ext cx="6366383" cy="1119030"/>
            </a:xfrm>
            <a:custGeom>
              <a:rect b="b" l="l" r="r" t="t"/>
              <a:pathLst>
                <a:path extrusionOk="0" h="1119030" w="6366383">
                  <a:moveTo>
                    <a:pt x="0" y="0"/>
                  </a:moveTo>
                  <a:lnTo>
                    <a:pt x="6366383" y="0"/>
                  </a:lnTo>
                  <a:lnTo>
                    <a:pt x="6366383" y="1119030"/>
                  </a:lnTo>
                  <a:lnTo>
                    <a:pt x="0" y="1119030"/>
                  </a:lnTo>
                  <a:close/>
                </a:path>
              </a:pathLst>
            </a:custGeom>
            <a:solidFill>
              <a:srgbClr val="EFF3FF"/>
            </a:solidFill>
            <a:ln>
              <a:noFill/>
            </a:ln>
          </p:spPr>
        </p:sp>
        <p:sp>
          <p:nvSpPr>
            <p:cNvPr id="88" name="Google Shape;88;p13"/>
            <p:cNvSpPr txBox="1"/>
            <p:nvPr/>
          </p:nvSpPr>
          <p:spPr>
            <a:xfrm>
              <a:off x="0" y="9525"/>
              <a:ext cx="6366300" cy="11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200">
                  <a:solidFill>
                    <a:srgbClr val="4C51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Banque Finance</a:t>
              </a:r>
              <a:r>
                <a:rPr b="0" i="0" lang="fr" sz="1200" u="none" cap="none" strike="noStrike">
                  <a:solidFill>
                    <a:srgbClr val="4C51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700"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>
                  <a:solidFill>
                    <a:srgbClr val="4C51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IA / GENAI</a:t>
              </a:r>
              <a:endParaRPr sz="700"/>
            </a:p>
          </p:txBody>
        </p:sp>
      </p:grpSp>
      <p:grpSp>
        <p:nvGrpSpPr>
          <p:cNvPr id="89" name="Google Shape;89;p13"/>
          <p:cNvGrpSpPr/>
          <p:nvPr/>
        </p:nvGrpSpPr>
        <p:grpSpPr>
          <a:xfrm>
            <a:off x="6702375" y="93901"/>
            <a:ext cx="2240618" cy="483089"/>
            <a:chOff x="0" y="-95250"/>
            <a:chExt cx="4785600" cy="1288237"/>
          </a:xfrm>
        </p:grpSpPr>
        <p:sp>
          <p:nvSpPr>
            <p:cNvPr id="90" name="Google Shape;90;p13"/>
            <p:cNvSpPr/>
            <p:nvPr/>
          </p:nvSpPr>
          <p:spPr>
            <a:xfrm>
              <a:off x="0" y="0"/>
              <a:ext cx="4785600" cy="1192987"/>
            </a:xfrm>
            <a:custGeom>
              <a:rect b="b" l="l" r="r" t="t"/>
              <a:pathLst>
                <a:path extrusionOk="0" h="1192987" w="4785600">
                  <a:moveTo>
                    <a:pt x="0" y="0"/>
                  </a:moveTo>
                  <a:lnTo>
                    <a:pt x="4785600" y="0"/>
                  </a:lnTo>
                  <a:lnTo>
                    <a:pt x="4785600" y="1192987"/>
                  </a:lnTo>
                  <a:lnTo>
                    <a:pt x="0" y="11929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1" name="Google Shape;91;p13"/>
            <p:cNvSpPr txBox="1"/>
            <p:nvPr/>
          </p:nvSpPr>
          <p:spPr>
            <a:xfrm>
              <a:off x="0" y="-95250"/>
              <a:ext cx="4785600" cy="128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7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800">
                  <a:latin typeface="Poppins"/>
                  <a:ea typeface="Poppins"/>
                  <a:cs typeface="Poppins"/>
                  <a:sym typeface="Poppins"/>
                </a:rPr>
                <a:t>BFORBANK</a:t>
              </a:r>
              <a:endParaRPr sz="700"/>
            </a:p>
          </p:txBody>
        </p:sp>
      </p:grpSp>
      <p:sp>
        <p:nvSpPr>
          <p:cNvPr id="92" name="Google Shape;92;p13"/>
          <p:cNvSpPr txBox="1"/>
          <p:nvPr/>
        </p:nvSpPr>
        <p:spPr>
          <a:xfrm rot="-5400000">
            <a:off x="7969050" y="2632300"/>
            <a:ext cx="20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Date de création : </a:t>
            </a:r>
            <a:r>
              <a:rPr i="1" lang="fr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05/01/2026</a:t>
            </a:r>
            <a:endParaRPr i="1"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0431" y="1306774"/>
            <a:ext cx="2782668" cy="1855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