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31"/>
    <p:sldId id="257" r:id="rId30"/>
    <p:sldId id="258" r:id="rId29"/>
    <p:sldId id="259" r:id="rId28"/>
    <p:sldId id="260" r:id="rId27"/>
    <p:sldId id="261" r:id="rId26"/>
    <p:sldId id="262" r:id="rId25"/>
    <p:sldId id="263" r:id="rId24"/>
    <p:sldId id="264" r:id="rId23"/>
    <p:sldId id="265" r:id="rId22"/>
    <p:sldId id="266" r:id="rId21"/>
    <p:sldId id="267" r:id="rId20"/>
    <p:sldId id="268" r:id="rId19"/>
    <p:sldId id="269" r:id="rId18"/>
    <p:sldId id="270" r:id="rId17"/>
    <p:sldId id="271" r:id="rId16"/>
    <p:sldId id="272" r:id="rId15"/>
    <p:sldId id="273" r:id="rId14"/>
    <p:sldId id="274" r:id="rId13"/>
    <p:sldId id="275" r:id="rId12"/>
    <p:sldId id="276" r:id="rId11"/>
    <p:sldId id="277" r:id="rId10"/>
    <p:sldId id="278" r:id="rId9"/>
    <p:sldId id="279" r:id="rId8"/>
    <p:sldId id="280" r:id="rId69"/>
    <p:sldId id="281" r:id="rId70"/>
    <p:sldId id="282" r:id="rId71"/>
    <p:sldId id="283" r:id="rId72"/>
  </p:sldIdLst>
  <p:sldSz cy="6858000" cx="12188825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Chakra Petch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Chakra Petch SemiBold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Century Gothic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FDE8E7-1299-469C-8469-020B3AA9B19E}">
  <a:tblStyle styleId="{25FDE8E7-1299-469C-8469-020B3AA9B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4.xml"/><Relationship Id="rId9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8.xml"/><Relationship Id="rId15" Type="http://schemas.openxmlformats.org/officeDocument/2006/relationships/slide" Target="slides/slide17.xml"/><Relationship Id="rId16" Type="http://schemas.openxmlformats.org/officeDocument/2006/relationships/slide" Target="slides/slide16.xml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schemas.openxmlformats.org/officeDocument/2006/relationships/slide" Target="slides/slide10.xml"/><Relationship Id="rId23" Type="http://schemas.openxmlformats.org/officeDocument/2006/relationships/slide" Target="slides/slide9.xml"/><Relationship Id="rId24" Type="http://schemas.openxmlformats.org/officeDocument/2006/relationships/slide" Target="slides/slide8.xml"/><Relationship Id="rId25" Type="http://schemas.openxmlformats.org/officeDocument/2006/relationships/slide" Target="slides/slide7.xml"/><Relationship Id="rId26" Type="http://schemas.openxmlformats.org/officeDocument/2006/relationships/slide" Target="slides/slide6.xml"/><Relationship Id="rId27" Type="http://schemas.openxmlformats.org/officeDocument/2006/relationships/slide" Target="slides/slide5.xml"/><Relationship Id="rId28" Type="http://schemas.openxmlformats.org/officeDocument/2006/relationships/slide" Target="slides/slide4.xml"/><Relationship Id="rId29" Type="http://schemas.openxmlformats.org/officeDocument/2006/relationships/slide" Target="slides/slide3.xml"/><Relationship Id="rId30" Type="http://schemas.openxmlformats.org/officeDocument/2006/relationships/slide" Target="slides/slide2.xml"/><Relationship Id="rId31" Type="http://schemas.openxmlformats.org/officeDocument/2006/relationships/slide" Target="slides/slide1.xml"/><Relationship Id="rId32" Type="http://schemas.openxmlformats.org/officeDocument/2006/relationships/font" Target="fonts/Roboto-regular.fntdata"/><Relationship Id="rId33" Type="http://schemas.openxmlformats.org/officeDocument/2006/relationships/font" Target="fonts/Roboto-bold.fntdata"/><Relationship Id="rId34" Type="http://schemas.openxmlformats.org/officeDocument/2006/relationships/font" Target="fonts/Roboto-italic.fntdata"/><Relationship Id="rId35" Type="http://schemas.openxmlformats.org/officeDocument/2006/relationships/font" Target="fonts/Roboto-boldItalic.fntdata"/><Relationship Id="rId36" Type="http://schemas.openxmlformats.org/officeDocument/2006/relationships/font" Target="fonts/Inter-regular.fntdata"/><Relationship Id="rId37" Type="http://schemas.openxmlformats.org/officeDocument/2006/relationships/font" Target="fonts/Inter-bold.fntdata"/><Relationship Id="rId38" Type="http://schemas.openxmlformats.org/officeDocument/2006/relationships/font" Target="fonts/Inter-italic.fntdata"/><Relationship Id="rId39" Type="http://schemas.openxmlformats.org/officeDocument/2006/relationships/font" Target="fonts/Inter-boldItalic.fntdata"/><Relationship Id="rId40" Type="http://schemas.openxmlformats.org/officeDocument/2006/relationships/font" Target="fonts/Montserrat-regular.fntdata"/><Relationship Id="rId41" Type="http://schemas.openxmlformats.org/officeDocument/2006/relationships/font" Target="fonts/Montserrat-bold.fntdata"/><Relationship Id="rId42" Type="http://schemas.openxmlformats.org/officeDocument/2006/relationships/font" Target="fonts/Montserrat-italic.fntdata"/><Relationship Id="rId43" Type="http://schemas.openxmlformats.org/officeDocument/2006/relationships/font" Target="fonts/Montserrat-boldItalic.fntdata"/><Relationship Id="rId44" Type="http://schemas.openxmlformats.org/officeDocument/2006/relationships/font" Target="fonts/MontserratMedium-regular.fntdata"/><Relationship Id="rId45" Type="http://schemas.openxmlformats.org/officeDocument/2006/relationships/font" Target="fonts/MontserratMedium-bold.fntdata"/><Relationship Id="rId46" Type="http://schemas.openxmlformats.org/officeDocument/2006/relationships/font" Target="fonts/MontserratMedium-italic.fntdata"/><Relationship Id="rId47" Type="http://schemas.openxmlformats.org/officeDocument/2006/relationships/font" Target="fonts/MontserratMedium-boldItalic.fntdata"/><Relationship Id="rId48" Type="http://schemas.openxmlformats.org/officeDocument/2006/relationships/font" Target="fonts/ChakraPetch-regular.fntdata"/><Relationship Id="rId49" Type="http://schemas.openxmlformats.org/officeDocument/2006/relationships/font" Target="fonts/ChakraPetch-bold.fntdata"/><Relationship Id="rId50" Type="http://schemas.openxmlformats.org/officeDocument/2006/relationships/font" Target="fonts/ChakraPetch-italic.fntdata"/><Relationship Id="rId51" Type="http://schemas.openxmlformats.org/officeDocument/2006/relationships/font" Target="fonts/ChakraPetch-boldItalic.fntdata"/><Relationship Id="rId52" Type="http://schemas.openxmlformats.org/officeDocument/2006/relationships/font" Target="fonts/ArialBlack-regular.fntdata"/><Relationship Id="rId53" Type="http://schemas.openxmlformats.org/officeDocument/2006/relationships/font" Target="fonts/ChakraPetchSemiBold-regular.fntdata"/><Relationship Id="rId54" Type="http://schemas.openxmlformats.org/officeDocument/2006/relationships/font" Target="fonts/ChakraPetchSemiBold-bold.fntdata"/><Relationship Id="rId55" Type="http://schemas.openxmlformats.org/officeDocument/2006/relationships/font" Target="fonts/ChakraPetchSemiBold-italic.fntdata"/><Relationship Id="rId56" Type="http://schemas.openxmlformats.org/officeDocument/2006/relationships/font" Target="fonts/ChakraPetchSemiBold-boldItalic.fntdata"/><Relationship Id="rId57" Type="http://schemas.openxmlformats.org/officeDocument/2006/relationships/font" Target="fonts/RobotoMono-regular.fntdata"/><Relationship Id="rId58" Type="http://schemas.openxmlformats.org/officeDocument/2006/relationships/font" Target="fonts/RobotoMono-bold.fntdata"/><Relationship Id="rId59" Type="http://schemas.openxmlformats.org/officeDocument/2006/relationships/font" Target="fonts/RobotoMono-italic.fntdata"/><Relationship Id="rId60" Type="http://schemas.openxmlformats.org/officeDocument/2006/relationships/font" Target="fonts/RobotoMono-boldItalic.fntdata"/><Relationship Id="rId61" Type="http://schemas.openxmlformats.org/officeDocument/2006/relationships/font" Target="fonts/InterMedium-regular.fntdata"/><Relationship Id="rId62" Type="http://schemas.openxmlformats.org/officeDocument/2006/relationships/font" Target="fonts/InterMedium-bold.fntdata"/><Relationship Id="rId63" Type="http://schemas.openxmlformats.org/officeDocument/2006/relationships/font" Target="fonts/InterMedium-italic.fntdata"/><Relationship Id="rId64" Type="http://schemas.openxmlformats.org/officeDocument/2006/relationships/font" Target="fonts/InterMedium-boldItalic.fntdata"/><Relationship Id="rId65" Type="http://schemas.openxmlformats.org/officeDocument/2006/relationships/font" Target="fonts/CenturyGothic-regular.fntdata"/><Relationship Id="rId66" Type="http://schemas.openxmlformats.org/officeDocument/2006/relationships/font" Target="fonts/CenturyGothic-bold.fntdata"/><Relationship Id="rId67" Type="http://schemas.openxmlformats.org/officeDocument/2006/relationships/font" Target="fonts/CenturyGothic-italic.fntdata"/><Relationship Id="rId68" Type="http://schemas.openxmlformats.org/officeDocument/2006/relationships/font" Target="fonts/CenturyGothic-boldItalic.fntdata"/><Relationship Id="rId69" Type="http://schemas.openxmlformats.org/officeDocument/2006/relationships/slide" Target="slides/slide25.xml"/><Relationship Id="rId70" Type="http://schemas.openxmlformats.org/officeDocument/2006/relationships/slide" Target="slides/slide26.xml"/><Relationship Id="rId71" Type="http://schemas.openxmlformats.org/officeDocument/2006/relationships/slide" Target="slides/slide27.xml"/><Relationship Id="rId72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4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">
  <p:cSld name="TITLE_ONLY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>
            <p:ph idx="2" type="pic"/>
          </p:nvPr>
        </p:nvSpPr>
        <p:spPr>
          <a:xfrm>
            <a:off x="6420965" y="1110400"/>
            <a:ext cx="4790700" cy="479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839780" y="1080000"/>
            <a:ext cx="5224200" cy="48528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 1">
  <p:cSld name="TITLE_ONLY_4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839786" y="1080000"/>
            <a:ext cx="5136600" cy="4791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6107609" y="1080000"/>
            <a:ext cx="5136600" cy="4791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encadrement">
  <p:cSld name="TITLE_ONLY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839781" y="1092378"/>
            <a:ext cx="387900" cy="469200"/>
          </a:xfrm>
          <a:prstGeom prst="halfFrame">
            <a:avLst>
              <a:gd fmla="val 16750" name="adj1"/>
              <a:gd fmla="val 14891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5"/>
          <p:cNvSpPr/>
          <p:nvPr/>
        </p:nvSpPr>
        <p:spPr>
          <a:xfrm rot="10800000">
            <a:off x="10754390" y="5985084"/>
            <a:ext cx="543900" cy="497100"/>
          </a:xfrm>
          <a:prstGeom prst="halfFrame">
            <a:avLst>
              <a:gd fmla="val 13769" name="adj1"/>
              <a:gd fmla="val 14392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315591" y="1670200"/>
            <a:ext cx="9803400" cy="4314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Double Colonne">
  <p:cSld name="TITLE_ONLY_3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106743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72839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843514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A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06755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B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9781" y="1612167"/>
            <a:ext cx="49791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06743" y="1612167"/>
            <a:ext cx="49458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  <p15:guide id="2" pos="710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 - Color Palette">
  <p:cSld name="CUSTOM_3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877971" y="310767"/>
            <a:ext cx="800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Color Palette</a:t>
            </a:r>
            <a:endParaRPr b="1" sz="2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75106" y="1452054"/>
            <a:ext cx="1828200" cy="548700"/>
          </a:xfrm>
          <a:prstGeom prst="rect">
            <a:avLst/>
          </a:prstGeom>
          <a:solidFill>
            <a:srgbClr val="3A3A3B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47206" y="14520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ANTHRACITE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047206" y="17263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#3A3A3B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993386" y="14593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Couleur principale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975106" y="2183574"/>
            <a:ext cx="1828200" cy="548700"/>
          </a:xfrm>
          <a:prstGeom prst="rect">
            <a:avLst/>
          </a:prstGeom>
          <a:solidFill>
            <a:srgbClr val="1F1F1F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3047206" y="218357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NOIR PROFOND</a:t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3047206" y="245789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#1F1F1F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993386" y="219084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Titres H1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975106" y="2915094"/>
            <a:ext cx="1828200" cy="548700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047206" y="291509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MOYEN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047206" y="318941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#474747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4993386" y="292236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Texte courant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975106" y="3646614"/>
            <a:ext cx="1828200" cy="548700"/>
          </a:xfrm>
          <a:prstGeom prst="rect">
            <a:avLst/>
          </a:prstGeom>
          <a:solidFill>
            <a:srgbClr val="FBF0F4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3047206" y="364661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ROSE POUDRÉ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047206" y="392093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#FBF0F4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993386" y="365388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doux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75106" y="4378134"/>
            <a:ext cx="1828200" cy="5487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047206" y="437813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TERRACOTTA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047206" y="465245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#c0504dff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4993386" y="438540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chaud</a:t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75106" y="5109654"/>
            <a:ext cx="1828200" cy="5487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3047206" y="51096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CORAIL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047206" y="53839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#FF6B58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4993386" y="51169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vif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975106" y="5841179"/>
            <a:ext cx="1828200" cy="548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3047206" y="6042177"/>
            <a:ext cx="17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#eeeeee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3047206" y="5841179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CLAIR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4999011" y="5864813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</a:t>
            </a: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neutre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itre seule" showMasterSp="0">
  <p:cSld name="Title Only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-2113" y="1725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1574661" y="1353633"/>
            <a:ext cx="7455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i="0" sz="3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1645803" y="2785736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96" name="Google Shape;96;p8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Avec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2">
            <a:alphaModFix/>
          </a:blip>
          <a:srcRect b="0" l="0" r="0" t="9869"/>
          <a:stretch/>
        </p:blipFill>
        <p:spPr>
          <a:xfrm>
            <a:off x="2276940" y="-1"/>
            <a:ext cx="5218642" cy="499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0"/>
            <a:ext cx="2734716" cy="6854560"/>
          </a:xfrm>
          <a:custGeom>
            <a:rect b="b" l="l" r="r" t="t"/>
            <a:pathLst>
              <a:path extrusionOk="0" h="5144135" w="2052320">
                <a:moveTo>
                  <a:pt x="2052002" y="0"/>
                </a:moveTo>
                <a:lnTo>
                  <a:pt x="0" y="0"/>
                </a:lnTo>
                <a:lnTo>
                  <a:pt x="0" y="5143677"/>
                </a:lnTo>
                <a:lnTo>
                  <a:pt x="2052002" y="5143677"/>
                </a:lnTo>
                <a:lnTo>
                  <a:pt x="2052002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111705" y="721993"/>
            <a:ext cx="3078248" cy="3453933"/>
          </a:xfrm>
          <a:custGeom>
            <a:rect b="b" l="l" r="r" t="t"/>
            <a:pathLst>
              <a:path extrusionOk="0" h="2592070" w="2310130">
                <a:moveTo>
                  <a:pt x="2310003" y="0"/>
                </a:moveTo>
                <a:lnTo>
                  <a:pt x="0" y="0"/>
                </a:lnTo>
                <a:lnTo>
                  <a:pt x="0" y="2591993"/>
                </a:lnTo>
                <a:lnTo>
                  <a:pt x="2310003" y="2591993"/>
                </a:lnTo>
                <a:lnTo>
                  <a:pt x="23100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1111544" y="1003300"/>
            <a:ext cx="3079200" cy="9780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" type="title"/>
          </p:nvPr>
        </p:nvSpPr>
        <p:spPr>
          <a:xfrm>
            <a:off x="1111794" y="2436633"/>
            <a:ext cx="3079200" cy="1033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hématique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039208" y="1882776"/>
            <a:ext cx="6110400" cy="2864400"/>
          </a:xfrm>
          <a:prstGeom prst="rect">
            <a:avLst/>
          </a:prstGeom>
          <a:solidFill>
            <a:srgbClr val="000E1D"/>
          </a:solidFill>
          <a:ln>
            <a:noFill/>
          </a:ln>
        </p:spPr>
        <p:txBody>
          <a:bodyPr anchorCtr="0" anchor="ctr" bIns="0" lIns="0" spcFirstLastPara="1" rIns="0" wrap="square" tIns="85325">
            <a:noAutofit/>
          </a:bodyPr>
          <a:lstStyle/>
          <a:p>
            <a:pPr indent="0" lvl="0" marL="495300" marR="4953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/>
          <p:nvPr/>
        </p:nvSpPr>
        <p:spPr>
          <a:xfrm rot="10800000">
            <a:off x="3039217" y="4747491"/>
            <a:ext cx="6110400" cy="524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3047206" y="1892300"/>
            <a:ext cx="6110400" cy="2864400"/>
          </a:xfrm>
          <a:prstGeom prst="rect">
            <a:avLst/>
          </a:prstGeom>
        </p:spPr>
        <p:txBody>
          <a:bodyPr anchorCtr="0" anchor="ctr" bIns="24000" lIns="24000" spcFirstLastPara="1" rIns="24000" wrap="square" tIns="2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">
  <p:cSld name="CUSTOM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FUTURE, TOGETHER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lack">
  <p:cSld name="OBJEC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2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3" name="Google Shape;133;p12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ntacts">
  <p:cSld name="CUSTOM_5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3"/>
          <p:cNvGrpSpPr/>
          <p:nvPr/>
        </p:nvGrpSpPr>
        <p:grpSpPr>
          <a:xfrm>
            <a:off x="0" y="0"/>
            <a:ext cx="4191120" cy="6850445"/>
            <a:chOff x="0" y="0"/>
            <a:chExt cx="3144126" cy="5144135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052320" cy="5144135"/>
            </a:xfrm>
            <a:custGeom>
              <a:rect b="b" l="l" r="r" t="t"/>
              <a:pathLst>
                <a:path extrusionOk="0" h="5144135" w="2052320">
                  <a:moveTo>
                    <a:pt x="2052002" y="0"/>
                  </a:moveTo>
                  <a:lnTo>
                    <a:pt x="0" y="0"/>
                  </a:lnTo>
                  <a:lnTo>
                    <a:pt x="0" y="5143677"/>
                  </a:lnTo>
                  <a:lnTo>
                    <a:pt x="2052002" y="5143677"/>
                  </a:lnTo>
                  <a:lnTo>
                    <a:pt x="2052002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3996" y="542163"/>
              <a:ext cx="2310130" cy="2592070"/>
            </a:xfrm>
            <a:custGeom>
              <a:rect b="b" l="l" r="r" t="t"/>
              <a:pathLst>
                <a:path extrusionOk="0" h="2592070" w="2310130">
                  <a:moveTo>
                    <a:pt x="2310003" y="0"/>
                  </a:moveTo>
                  <a:lnTo>
                    <a:pt x="0" y="0"/>
                  </a:lnTo>
                  <a:lnTo>
                    <a:pt x="0" y="2591993"/>
                  </a:lnTo>
                  <a:lnTo>
                    <a:pt x="2310003" y="2591993"/>
                  </a:lnTo>
                  <a:lnTo>
                    <a:pt x="2310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1574655" y="1353617"/>
            <a:ext cx="1664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is</a:t>
            </a:r>
            <a:endParaRPr sz="3700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574655" y="1860990"/>
            <a:ext cx="22143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574655" y="2512185"/>
            <a:ext cx="217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  <a:endParaRPr b="0" i="0" sz="3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574655" y="3019559"/>
            <a:ext cx="166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is tech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0" y="4154560"/>
            <a:ext cx="12184380" cy="2697485"/>
          </a:xfrm>
          <a:custGeom>
            <a:rect b="b" l="l" r="r" t="t"/>
            <a:pathLst>
              <a:path extrusionOk="0" h="2024379" w="9144000">
                <a:moveTo>
                  <a:pt x="3143986" y="0"/>
                </a:moveTo>
                <a:lnTo>
                  <a:pt x="833996" y="0"/>
                </a:lnTo>
                <a:lnTo>
                  <a:pt x="833996" y="14389"/>
                </a:lnTo>
                <a:lnTo>
                  <a:pt x="3143986" y="14389"/>
                </a:lnTo>
                <a:lnTo>
                  <a:pt x="3143986" y="0"/>
                </a:lnTo>
                <a:close/>
              </a:path>
              <a:path extrusionOk="0" h="2024379" w="9144000">
                <a:moveTo>
                  <a:pt x="9144000" y="2000872"/>
                </a:moveTo>
                <a:lnTo>
                  <a:pt x="0" y="2000872"/>
                </a:lnTo>
                <a:lnTo>
                  <a:pt x="0" y="2023910"/>
                </a:lnTo>
                <a:lnTo>
                  <a:pt x="9144000" y="2023910"/>
                </a:lnTo>
                <a:lnTo>
                  <a:pt x="9144000" y="20008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252099" y="1389588"/>
            <a:ext cx="18759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Paris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48, rue Jacques Dulud  92200 Neuilly-Sur-Seine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+33 1 41 38 52 00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252099" y="2359911"/>
            <a:ext cx="14364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5, Place de la Gare  1616 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+352 26 54 47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252099" y="3330233"/>
            <a:ext cx="1276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74, rue des Arts  59800 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+33 3 66 72 61 32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252099" y="4483199"/>
            <a:ext cx="2375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Centre Les Grands  Hommes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 des Grands Hommes  33000 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48993" y="1389588"/>
            <a:ext cx="1647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Strasbourg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Crystal Park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avenue de l’Europe  67300 Schiltigheim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+33 3 88 47 04 38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948996" y="2542561"/>
            <a:ext cx="1875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Nantes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Halle 6 Est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rue de la Tour d’Au-  vergne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44200 Nantes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+33 2 55 07 42 61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7948993" y="3878196"/>
            <a:ext cx="142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Belgium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Avenue des Arts 6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1210 Bruxelles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+32(0)2 899 83 70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1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">
  <p:cSld name="TITLE_ONL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1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 - Black">
  <p:cSld name="OBJECT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75" name="Google Shape;175;p16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2">
  <p:cSld name="Section - Couverture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401" y="1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9525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324909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644655" y="2665614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576132" y="2665619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18360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018360" y="3784450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399" u="none" cap="none" strike="noStrike">
              <a:solidFill>
                <a:srgbClr val="000000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16929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b="1" lang="en-US" sz="14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STAY IN MOTION</a:t>
            </a:r>
            <a:endParaRPr sz="16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hakra Petch"/>
              <a:buNone/>
              <a:defRPr sz="2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idx="10" type="dt"/>
          </p:nvPr>
        </p:nvSpPr>
        <p:spPr>
          <a:xfrm>
            <a:off x="304721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1" type="ftr"/>
          </p:nvPr>
        </p:nvSpPr>
        <p:spPr>
          <a:xfrm>
            <a:off x="2082258" y="4237567"/>
            <a:ext cx="1929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4367662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seul 1">
  <p:cSld name="Corps - Titre seul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9781" y="165100"/>
            <a:ext cx="11268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hakra Petch"/>
              <a:buNone/>
              <a:defRPr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9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2">
  <p:cSld name="TITLE_ONLY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20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None/>
              <a:defRPr sz="1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\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">
  <p:cSld name="TITLE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 1">
  <p:cSld name="TITLE_ONLY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4" name="Google Shape;234;p27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 1">
  <p:cSld name="TITLE_ONLY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28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1">
  <p:cSld name="OBJECT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2">
            <a:alphaModFix/>
          </a:blip>
          <a:srcRect b="23643" l="3691" r="3802" t="20224"/>
          <a:stretch/>
        </p:blipFill>
        <p:spPr>
          <a:xfrm>
            <a:off x="10140634" y="6492875"/>
            <a:ext cx="2048193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685621" y="2130425"/>
            <a:ext cx="7770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1371243" y="3886200"/>
            <a:ext cx="639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722125" y="4406900"/>
            <a:ext cx="7770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722125" y="2906713"/>
            <a:ext cx="77703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4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081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5" name="Google Shape;275;p35"/>
          <p:cNvSpPr txBox="1"/>
          <p:nvPr>
            <p:ph idx="2" type="body"/>
          </p:nvPr>
        </p:nvSpPr>
        <p:spPr>
          <a:xfrm>
            <a:off x="4646990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6" name="Google Shape;276;p35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457081" y="1535113"/>
            <a:ext cx="40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457081" y="2174875"/>
            <a:ext cx="403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3" name="Google Shape;283;p36"/>
          <p:cNvSpPr txBox="1"/>
          <p:nvPr>
            <p:ph idx="3" type="body"/>
          </p:nvPr>
        </p:nvSpPr>
        <p:spPr>
          <a:xfrm>
            <a:off x="4643815" y="1535113"/>
            <a:ext cx="4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36"/>
          <p:cNvSpPr txBox="1"/>
          <p:nvPr>
            <p:ph idx="4" type="body"/>
          </p:nvPr>
        </p:nvSpPr>
        <p:spPr>
          <a:xfrm>
            <a:off x="4643815" y="2174875"/>
            <a:ext cx="40407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36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081" y="273050"/>
            <a:ext cx="30075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574119" y="273050"/>
            <a:ext cx="51105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2" type="body"/>
          </p:nvPr>
        </p:nvSpPr>
        <p:spPr>
          <a:xfrm>
            <a:off x="457081" y="1435100"/>
            <a:ext cx="3007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38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1791821" y="4800600"/>
            <a:ext cx="5484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/>
          <p:nvPr>
            <p:ph idx="2" type="pic"/>
          </p:nvPr>
        </p:nvSpPr>
        <p:spPr>
          <a:xfrm>
            <a:off x="1791821" y="612775"/>
            <a:ext cx="5484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791821" y="5367338"/>
            <a:ext cx="5484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4" name="Google Shape;304;p39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 rot="5400000">
            <a:off x="2307738" y="-250500"/>
            <a:ext cx="4526100" cy="8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 rot="5400000">
            <a:off x="4730388" y="2171988"/>
            <a:ext cx="5851500" cy="2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 rot="5400000">
            <a:off x="540413" y="191238"/>
            <a:ext cx="5851500" cy="6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 1 2" showMasterSp="0">
  <p:cSld name="Title and Content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0"/>
            <a:ext cx="559296" cy="6854560"/>
          </a:xfrm>
          <a:custGeom>
            <a:rect b="b" l="l" r="r" t="t"/>
            <a:pathLst>
              <a:path extrusionOk="0" h="5144135" w="419734">
                <a:moveTo>
                  <a:pt x="419404" y="0"/>
                </a:moveTo>
                <a:lnTo>
                  <a:pt x="0" y="0"/>
                </a:lnTo>
                <a:lnTo>
                  <a:pt x="0" y="5143677"/>
                </a:lnTo>
                <a:lnTo>
                  <a:pt x="419404" y="5143677"/>
                </a:lnTo>
                <a:lnTo>
                  <a:pt x="419404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1486924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11960151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1584869" y="6495566"/>
            <a:ext cx="114229" cy="117612"/>
          </a:xfrm>
          <a:custGeom>
            <a:rect b="b" l="l" r="r" t="t"/>
            <a:pathLst>
              <a:path extrusionOk="0" h="88264" w="85725">
                <a:moveTo>
                  <a:pt x="65227" y="0"/>
                </a:moveTo>
                <a:lnTo>
                  <a:pt x="55499" y="0"/>
                </a:lnTo>
                <a:lnTo>
                  <a:pt x="36182" y="56616"/>
                </a:lnTo>
                <a:lnTo>
                  <a:pt x="35318" y="58826"/>
                </a:lnTo>
                <a:lnTo>
                  <a:pt x="32854" y="66459"/>
                </a:lnTo>
                <a:lnTo>
                  <a:pt x="30391" y="58826"/>
                </a:lnTo>
                <a:lnTo>
                  <a:pt x="29527" y="56616"/>
                </a:lnTo>
                <a:lnTo>
                  <a:pt x="10083" y="0"/>
                </a:lnTo>
                <a:lnTo>
                  <a:pt x="0" y="0"/>
                </a:lnTo>
                <a:lnTo>
                  <a:pt x="0" y="1219"/>
                </a:lnTo>
                <a:lnTo>
                  <a:pt x="32118" y="87998"/>
                </a:lnTo>
                <a:lnTo>
                  <a:pt x="33096" y="87998"/>
                </a:lnTo>
                <a:lnTo>
                  <a:pt x="65227" y="1219"/>
                </a:lnTo>
                <a:lnTo>
                  <a:pt x="65227" y="0"/>
                </a:lnTo>
                <a:close/>
              </a:path>
              <a:path extrusionOk="0" h="88264" w="85725">
                <a:moveTo>
                  <a:pt x="85699" y="0"/>
                </a:moveTo>
                <a:lnTo>
                  <a:pt x="77139" y="0"/>
                </a:lnTo>
                <a:lnTo>
                  <a:pt x="77139" y="86156"/>
                </a:lnTo>
                <a:lnTo>
                  <a:pt x="85699" y="86156"/>
                </a:lnTo>
                <a:lnTo>
                  <a:pt x="85699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1716101" y="6493096"/>
            <a:ext cx="229302" cy="120152"/>
          </a:xfrm>
          <a:custGeom>
            <a:rect b="b" l="l" r="r" t="t"/>
            <a:pathLst>
              <a:path extrusionOk="0" h="90170" w="172084">
                <a:moveTo>
                  <a:pt x="55295" y="67208"/>
                </a:moveTo>
                <a:lnTo>
                  <a:pt x="48971" y="50990"/>
                </a:lnTo>
                <a:lnTo>
                  <a:pt x="35077" y="40462"/>
                </a:lnTo>
                <a:lnTo>
                  <a:pt x="21170" y="31330"/>
                </a:lnTo>
                <a:lnTo>
                  <a:pt x="14859" y="19329"/>
                </a:lnTo>
                <a:lnTo>
                  <a:pt x="14859" y="12928"/>
                </a:lnTo>
                <a:lnTo>
                  <a:pt x="20218" y="8382"/>
                </a:lnTo>
                <a:lnTo>
                  <a:pt x="35344" y="8382"/>
                </a:lnTo>
                <a:lnTo>
                  <a:pt x="40424" y="10960"/>
                </a:lnTo>
                <a:lnTo>
                  <a:pt x="45110" y="17119"/>
                </a:lnTo>
                <a:lnTo>
                  <a:pt x="52209" y="11087"/>
                </a:lnTo>
                <a:lnTo>
                  <a:pt x="47307" y="6083"/>
                </a:lnTo>
                <a:lnTo>
                  <a:pt x="41795" y="2641"/>
                </a:lnTo>
                <a:lnTo>
                  <a:pt x="35636" y="647"/>
                </a:lnTo>
                <a:lnTo>
                  <a:pt x="28778" y="12"/>
                </a:lnTo>
                <a:lnTo>
                  <a:pt x="18948" y="1473"/>
                </a:lnTo>
                <a:lnTo>
                  <a:pt x="11290" y="5562"/>
                </a:lnTo>
                <a:lnTo>
                  <a:pt x="6311" y="11798"/>
                </a:lnTo>
                <a:lnTo>
                  <a:pt x="4546" y="19697"/>
                </a:lnTo>
                <a:lnTo>
                  <a:pt x="10845" y="35331"/>
                </a:lnTo>
                <a:lnTo>
                  <a:pt x="24688" y="45669"/>
                </a:lnTo>
                <a:lnTo>
                  <a:pt x="38544" y="55079"/>
                </a:lnTo>
                <a:lnTo>
                  <a:pt x="44843" y="67945"/>
                </a:lnTo>
                <a:lnTo>
                  <a:pt x="44843" y="76441"/>
                </a:lnTo>
                <a:lnTo>
                  <a:pt x="38823" y="81483"/>
                </a:lnTo>
                <a:lnTo>
                  <a:pt x="20878" y="81483"/>
                </a:lnTo>
                <a:lnTo>
                  <a:pt x="13525" y="77914"/>
                </a:lnTo>
                <a:lnTo>
                  <a:pt x="7099" y="69672"/>
                </a:lnTo>
                <a:lnTo>
                  <a:pt x="0" y="76073"/>
                </a:lnTo>
                <a:lnTo>
                  <a:pt x="6311" y="82270"/>
                </a:lnTo>
                <a:lnTo>
                  <a:pt x="13373" y="86563"/>
                </a:lnTo>
                <a:lnTo>
                  <a:pt x="21107" y="89052"/>
                </a:lnTo>
                <a:lnTo>
                  <a:pt x="29451" y="89852"/>
                </a:lnTo>
                <a:lnTo>
                  <a:pt x="39928" y="88239"/>
                </a:lnTo>
                <a:lnTo>
                  <a:pt x="48094" y="83654"/>
                </a:lnTo>
                <a:lnTo>
                  <a:pt x="53403" y="76517"/>
                </a:lnTo>
                <a:lnTo>
                  <a:pt x="55295" y="67208"/>
                </a:lnTo>
                <a:close/>
              </a:path>
              <a:path extrusionOk="0" h="90170" w="172084">
                <a:moveTo>
                  <a:pt x="74980" y="1854"/>
                </a:moveTo>
                <a:lnTo>
                  <a:pt x="66421" y="1854"/>
                </a:lnTo>
                <a:lnTo>
                  <a:pt x="66421" y="88011"/>
                </a:lnTo>
                <a:lnTo>
                  <a:pt x="74980" y="88011"/>
                </a:lnTo>
                <a:lnTo>
                  <a:pt x="74980" y="1854"/>
                </a:lnTo>
                <a:close/>
              </a:path>
              <a:path extrusionOk="0" h="90170" w="172084">
                <a:moveTo>
                  <a:pt x="171945" y="44932"/>
                </a:moveTo>
                <a:lnTo>
                  <a:pt x="169011" y="27012"/>
                </a:lnTo>
                <a:lnTo>
                  <a:pt x="162877" y="16408"/>
                </a:lnTo>
                <a:lnTo>
                  <a:pt x="162877" y="44932"/>
                </a:lnTo>
                <a:lnTo>
                  <a:pt x="160566" y="59372"/>
                </a:lnTo>
                <a:lnTo>
                  <a:pt x="154114" y="70751"/>
                </a:lnTo>
                <a:lnTo>
                  <a:pt x="144195" y="78193"/>
                </a:lnTo>
                <a:lnTo>
                  <a:pt x="131508" y="80860"/>
                </a:lnTo>
                <a:lnTo>
                  <a:pt x="118694" y="78193"/>
                </a:lnTo>
                <a:lnTo>
                  <a:pt x="108750" y="70751"/>
                </a:lnTo>
                <a:lnTo>
                  <a:pt x="102311" y="59372"/>
                </a:lnTo>
                <a:lnTo>
                  <a:pt x="100025" y="44932"/>
                </a:lnTo>
                <a:lnTo>
                  <a:pt x="102311" y="30492"/>
                </a:lnTo>
                <a:lnTo>
                  <a:pt x="108750" y="19113"/>
                </a:lnTo>
                <a:lnTo>
                  <a:pt x="118694" y="11671"/>
                </a:lnTo>
                <a:lnTo>
                  <a:pt x="131508" y="8991"/>
                </a:lnTo>
                <a:lnTo>
                  <a:pt x="144195" y="11671"/>
                </a:lnTo>
                <a:lnTo>
                  <a:pt x="154114" y="19113"/>
                </a:lnTo>
                <a:lnTo>
                  <a:pt x="160566" y="30492"/>
                </a:lnTo>
                <a:lnTo>
                  <a:pt x="162877" y="44932"/>
                </a:lnTo>
                <a:lnTo>
                  <a:pt x="162877" y="16408"/>
                </a:lnTo>
                <a:lnTo>
                  <a:pt x="160782" y="12776"/>
                </a:lnTo>
                <a:lnTo>
                  <a:pt x="155638" y="8991"/>
                </a:lnTo>
                <a:lnTo>
                  <a:pt x="148005" y="3390"/>
                </a:lnTo>
                <a:lnTo>
                  <a:pt x="131508" y="0"/>
                </a:lnTo>
                <a:lnTo>
                  <a:pt x="114922" y="3390"/>
                </a:lnTo>
                <a:lnTo>
                  <a:pt x="102120" y="12801"/>
                </a:lnTo>
                <a:lnTo>
                  <a:pt x="93878" y="27114"/>
                </a:lnTo>
                <a:lnTo>
                  <a:pt x="90957" y="45173"/>
                </a:lnTo>
                <a:lnTo>
                  <a:pt x="93853" y="62966"/>
                </a:lnTo>
                <a:lnTo>
                  <a:pt x="102069" y="77114"/>
                </a:lnTo>
                <a:lnTo>
                  <a:pt x="114833" y="86474"/>
                </a:lnTo>
                <a:lnTo>
                  <a:pt x="131394" y="89852"/>
                </a:lnTo>
                <a:lnTo>
                  <a:pt x="147916" y="86474"/>
                </a:lnTo>
                <a:lnTo>
                  <a:pt x="155562" y="80860"/>
                </a:lnTo>
                <a:lnTo>
                  <a:pt x="160718" y="77089"/>
                </a:lnTo>
                <a:lnTo>
                  <a:pt x="168998" y="62865"/>
                </a:lnTo>
                <a:lnTo>
                  <a:pt x="171945" y="44932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1244111" y="6494815"/>
            <a:ext cx="225919" cy="117612"/>
          </a:xfrm>
          <a:custGeom>
            <a:rect b="b" l="l" r="r" t="t"/>
            <a:pathLst>
              <a:path extrusionOk="0" h="88264" w="169545">
                <a:moveTo>
                  <a:pt x="15379" y="76"/>
                </a:moveTo>
                <a:lnTo>
                  <a:pt x="0" y="76"/>
                </a:lnTo>
                <a:lnTo>
                  <a:pt x="36537" y="88265"/>
                </a:lnTo>
                <a:lnTo>
                  <a:pt x="50082" y="57429"/>
                </a:lnTo>
                <a:lnTo>
                  <a:pt x="37045" y="57429"/>
                </a:lnTo>
                <a:lnTo>
                  <a:pt x="34175" y="49047"/>
                </a:lnTo>
                <a:lnTo>
                  <a:pt x="32423" y="44157"/>
                </a:lnTo>
                <a:lnTo>
                  <a:pt x="15379" y="76"/>
                </a:lnTo>
                <a:close/>
              </a:path>
              <a:path extrusionOk="0" h="88264" w="169545">
                <a:moveTo>
                  <a:pt x="75282" y="29019"/>
                </a:moveTo>
                <a:lnTo>
                  <a:pt x="61975" y="29019"/>
                </a:lnTo>
                <a:lnTo>
                  <a:pt x="64879" y="36563"/>
                </a:lnTo>
                <a:lnTo>
                  <a:pt x="68591" y="45415"/>
                </a:lnTo>
                <a:lnTo>
                  <a:pt x="87147" y="88252"/>
                </a:lnTo>
                <a:lnTo>
                  <a:pt x="99845" y="57391"/>
                </a:lnTo>
                <a:lnTo>
                  <a:pt x="87210" y="57391"/>
                </a:lnTo>
                <a:lnTo>
                  <a:pt x="84060" y="49047"/>
                </a:lnTo>
                <a:lnTo>
                  <a:pt x="82207" y="44488"/>
                </a:lnTo>
                <a:lnTo>
                  <a:pt x="80949" y="41732"/>
                </a:lnTo>
                <a:lnTo>
                  <a:pt x="75282" y="29019"/>
                </a:lnTo>
                <a:close/>
              </a:path>
              <a:path extrusionOk="0" h="88264" w="169545">
                <a:moveTo>
                  <a:pt x="132257" y="14947"/>
                </a:moveTo>
                <a:lnTo>
                  <a:pt x="117309" y="14947"/>
                </a:lnTo>
                <a:lnTo>
                  <a:pt x="117424" y="86931"/>
                </a:lnTo>
                <a:lnTo>
                  <a:pt x="168998" y="86931"/>
                </a:lnTo>
                <a:lnTo>
                  <a:pt x="168998" y="73748"/>
                </a:lnTo>
                <a:lnTo>
                  <a:pt x="132257" y="73748"/>
                </a:lnTo>
                <a:lnTo>
                  <a:pt x="132257" y="48044"/>
                </a:lnTo>
                <a:lnTo>
                  <a:pt x="159143" y="48044"/>
                </a:lnTo>
                <a:lnTo>
                  <a:pt x="159143" y="34988"/>
                </a:lnTo>
                <a:lnTo>
                  <a:pt x="132257" y="34988"/>
                </a:lnTo>
                <a:lnTo>
                  <a:pt x="132257" y="14947"/>
                </a:lnTo>
                <a:close/>
              </a:path>
              <a:path extrusionOk="0" h="88264" w="169545">
                <a:moveTo>
                  <a:pt x="62344" y="0"/>
                </a:moveTo>
                <a:lnTo>
                  <a:pt x="43497" y="41732"/>
                </a:lnTo>
                <a:lnTo>
                  <a:pt x="42252" y="44589"/>
                </a:lnTo>
                <a:lnTo>
                  <a:pt x="37045" y="57429"/>
                </a:lnTo>
                <a:lnTo>
                  <a:pt x="50082" y="57429"/>
                </a:lnTo>
                <a:lnTo>
                  <a:pt x="55369" y="45389"/>
                </a:lnTo>
                <a:lnTo>
                  <a:pt x="59121" y="36423"/>
                </a:lnTo>
                <a:lnTo>
                  <a:pt x="61975" y="29019"/>
                </a:lnTo>
                <a:lnTo>
                  <a:pt x="75282" y="29019"/>
                </a:lnTo>
                <a:lnTo>
                  <a:pt x="62344" y="0"/>
                </a:lnTo>
                <a:close/>
              </a:path>
              <a:path extrusionOk="0" h="88264" w="169545">
                <a:moveTo>
                  <a:pt x="166700" y="76"/>
                </a:moveTo>
                <a:lnTo>
                  <a:pt x="108432" y="76"/>
                </a:lnTo>
                <a:lnTo>
                  <a:pt x="92900" y="41300"/>
                </a:lnTo>
                <a:lnTo>
                  <a:pt x="92100" y="43319"/>
                </a:lnTo>
                <a:lnTo>
                  <a:pt x="89979" y="49491"/>
                </a:lnTo>
                <a:lnTo>
                  <a:pt x="87210" y="57391"/>
                </a:lnTo>
                <a:lnTo>
                  <a:pt x="99845" y="57391"/>
                </a:lnTo>
                <a:lnTo>
                  <a:pt x="117309" y="14947"/>
                </a:lnTo>
                <a:lnTo>
                  <a:pt x="132257" y="14947"/>
                </a:lnTo>
                <a:lnTo>
                  <a:pt x="132257" y="13246"/>
                </a:lnTo>
                <a:lnTo>
                  <a:pt x="166700" y="13246"/>
                </a:lnTo>
                <a:lnTo>
                  <a:pt x="166700" y="76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1574655" y="1353617"/>
            <a:ext cx="1664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3700">
                <a:solidFill>
                  <a:srgbClr val="000E1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959751" y="1198500"/>
            <a:ext cx="109893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9" name="Google Shape;329;p42"/>
          <p:cNvSpPr txBox="1"/>
          <p:nvPr>
            <p:ph idx="11" type="ftr"/>
          </p:nvPr>
        </p:nvSpPr>
        <p:spPr>
          <a:xfrm>
            <a:off x="4144200" y="6377939"/>
            <a:ext cx="39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p42"/>
          <p:cNvSpPr txBox="1"/>
          <p:nvPr>
            <p:ph idx="10" type="dt"/>
          </p:nvPr>
        </p:nvSpPr>
        <p:spPr>
          <a:xfrm>
            <a:off x="609441" y="6377939"/>
            <a:ext cx="28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9781" y="364900"/>
            <a:ext cx="11357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hakra Petch"/>
              <a:buNone/>
              <a:defRPr b="1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9781" y="1080000"/>
            <a:ext cx="10828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hakra Petch"/>
              <a:buChar char="\"/>
              <a:defRPr b="1" sz="19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■"/>
              <a:def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" name="Google Shape;13;p1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56"/>
                  </a:lnTo>
                  <a:lnTo>
                    <a:pt x="85699" y="86156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8011"/>
                  </a:lnTo>
                  <a:lnTo>
                    <a:pt x="74980" y="88011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90">
          <p15:clr>
            <a:srgbClr val="E46962"/>
          </p15:clr>
        </p15:guide>
        <p15:guide id="2" pos="529">
          <p15:clr>
            <a:srgbClr val="E46962"/>
          </p15:clr>
        </p15:guide>
        <p15:guide id="3" pos="7083">
          <p15:clr>
            <a:srgbClr val="E46962"/>
          </p15:clr>
        </p15:guide>
        <p15:guide id="4" orient="horz" pos="230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 rot="-5400000">
            <a:off x="-677097" y="5857050"/>
            <a:ext cx="16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4747"/>
                </a:solidFill>
                <a:latin typeface="Chakra Petch"/>
                <a:ea typeface="Chakra Petch"/>
                <a:cs typeface="Chakra Petch"/>
                <a:sym typeface="Chakra Petch"/>
              </a:rPr>
              <a:t>WEnvision | 2026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MODULE 2: CAS D'USAGE BUSINESS ET CADRE DE DÉPLOIEMENT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L'Ère des Agents IA : Une Réalité Stratégique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des entreprises explorent l'IA générative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Source : McKinsey,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Objectifs du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Anticiper bénéfices, risques et facteurs clés de succès.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Identifier les domaines à fort impact de l'IA agentique.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Maîtriser le cadre de déploiement et de conception.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1. IDENTIFIER L'AVANTAGE COMPÉTITIF DES AGENTS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Où l'IA Agentique Crée de la Valeur Business 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**Métiers** : Optimisation des processus cœur de métier complexes.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**Fonctions Support** : Automatisation intelligente des tâches répétitives.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**Opérations** : Prédiction, maintenance proactive, gestion logistique.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**Expérience Client** : Personnalisation avancée, support proactif.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 Levier Stratégique des Agents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Autonomie accrue des systèmes.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Prise de décision optimisée et proactive.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Adaptation dynamique aux contextes changeants.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Capacité à exécuter des chaînes de tâches complexes.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2. SÉLECTION ET PRIORISATION DES CAS D'USAGE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Méthodologie de Priorisation Stratégique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828800"/>
            <a:ext cx="3474720" cy="1645920"/>
          </a:xfrm>
          <a:prstGeom prst="roundRect">
            <a:avLst/>
          </a:prstGeom>
          <a:solidFill>
            <a:srgbClr val="FBF0F4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474747"/>
                </a:solidFill>
                <a:latin typeface="Inter"/>
              </a:rPr>
              <a:t>Impact Business Élevé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828800"/>
            <a:ext cx="3474720" cy="164592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474747"/>
                </a:solidFill>
                <a:latin typeface="Inter"/>
              </a:rPr>
              <a:t>Faisabilité Technique Forte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657600"/>
            <a:ext cx="3474720" cy="164592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474747"/>
                </a:solidFill>
                <a:latin typeface="Inter"/>
              </a:rPr>
              <a:t>Alignement Stratégique Fort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657600"/>
            <a:ext cx="3474720" cy="1645920"/>
          </a:xfrm>
          <a:prstGeom prst="roundRect">
            <a:avLst/>
          </a:prstGeom>
          <a:solidFill>
            <a:srgbClr val="FBF0F4"/>
          </a:solidFill>
          <a:ln w="254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474747"/>
                </a:solidFill>
                <a:latin typeface="Inter"/>
              </a:rPr>
              <a:t>Données Disponibles &amp; Qualitatives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Filtrer les opportunités : Matrice Impact vs. Faisabilité &amp; Stratégie.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Critères de Sélection Clés pour l'Impact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**ROI Potentiel** : Gain financier ou opérationnel mesurable.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**Complexité Gérable** : Capacité de l'agent à maîtriser la tâche.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**Données** : Accès, volume et qualité des données essentielles.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**Adoption Interne** : Potentiel d'acceptation par les équipes.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3. DÉFINIR LE NIVEAU D'AUTONOMIE ET DE CONTRÔLE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Spectre de l'Autonomie Agentique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Assistance (Humain décide)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46888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Recommandation (Agent propose)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9184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Exécution Supervisée (Agent exécute, humain valide)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Autonomie Complète (Agent décide et exécute sans intervention)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Choisir le niveau d'autonomie en fonction de la criticité et du risque métier.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Principe de Supervision Humaine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L'automatisation sans supervision peut conduire à l'efficacité aveugle. Le contrôle humain reste essentiel pour les décisions critiques.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Andrew Ng, DeepLearning.AI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4. CADRE DE CONCEPTION D'UN AGENT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Les 4 Piliers de la Conception Agentique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4815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1. Objectifs Clairs &amp; Mesurables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5983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0847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2. Données Pertinentes &amp; Structurées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015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6879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3. Outils &amp; Capacités (LLMs, APIs, etc.)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8047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2911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4. Scénarios d'Usage Détaillés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Une approche structurée pour bâtir des agents efficaces et alignés.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Détails du Cadre de Conception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**Objectifs** : Spécifiques, Mesurables, Atteignables, Réalistes, Temporellement définis.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**Données** : Collecte, pré-traitement, enrichissement, gestion des sources.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**Outils** : Intégration de LLMs, bases de connaissances, APIs externes, RAG.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**Scénarios** : Définition des parcours utilisateur, des interactions et des exceptions.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5. BÉNÉFICES ATTENDUS DU DÉPLOIEMENT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Impact Mesurable des Agents IA en Entreprise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**Performance** : Accélération drastique des processus.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**Qualité** : Réduction des erreurs, amélioration de la précision.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**Délais** : Diminution significative des temps de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**Résilience** : Adaptabilité aux changements, disponibilité 24/7.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474747"/>
                </a:solidFill>
                <a:latin typeface="Inter"/>
              </a:rPr>
              <a:t>Un Gain de Productivité Substantiel et Rapide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0" b="1" i="0">
                <a:solidFill>
                  <a:srgbClr val="FF6B58"/>
                </a:solidFill>
                <a:latin typeface="Chakra Petch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F1F1F"/>
                </a:solidFill>
                <a:latin typeface="Chakra Petch"/>
              </a:rPr>
              <a:t>d'augmentation de productivité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4747"/>
                </a:solidFill>
                <a:latin typeface="Inter"/>
              </a:rPr>
              <a:t>Observé dans les fonctions support avec l'IA agentique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6. RISQUES, LIMITES ET CONDITIONS DE SUCCÈS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Risques Majeurs et Limites à Anticiper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**Sécurité** : Protection des données, vulnérabilités d'intégration.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**Conformité** : Réglementations (RGPD, AI Act), éthique.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**Biais Algorithmiques** : Propagation des biais des données.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**Acceptation** : Résistance au changement, confiance utilisateur.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Facteurs Clés de Succès pour un Déploiement Durable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Gouvernance IA Robuste et Transparente.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Conception Centrée sur l'Humain et l'Usage.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Surveillance et Évaluation Continues des Agents.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Stratégie de Conduite du Changement Accompagnée.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L'Impératif de l'Adoption et de la Maîtrise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L'IA ne remplacera pas les humains, mais les humains utilisant l'IA remplaceront ceux qui ne le font pas.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Kai-Fu Lee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7. PANORAMA DES SOLUTIONS ET CRITÈRES DE CHOIX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Solutions du Marché : Un Écosystème Riche et Varié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**Plateformes d'agents** : LangChain, AutoGPT, CrewAI, etc.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**Services Cloud IA** : Azure AI, Google Cloud AI, AWS SageMaker.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**Solutions Verticales** : Spécifiques à un métier ou une fonction.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**Développement Custom** : Pour des besoins uniques et complexes.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Critères de Sélection d'une Solution Agentique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Besoins Fonctionnels Spécifiques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46888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Coût Total de Possession (TCO)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9184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Scalabilité &amp; Facilité d'Intégration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Expertise Interne &amp; Support Fournisseur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7315200" cy="640080"/>
          </a:xfrm>
          <a:prstGeom prst="roundRect">
            <a:avLst/>
          </a:prstGeom>
          <a:solidFill>
            <a:srgbClr val="FBF0F4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474747"/>
                </a:solidFill>
                <a:latin typeface="Inter"/>
              </a:rPr>
              <a:t>  Sécurité, Conformité &amp; Éthique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Évaluer la solution la plus adaptée à votre contexte et vos contraintes.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CONCLUSION DU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Points Clés à Retenir pour le Déploiement d'Agents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L'IA agentique offre un avantage compétitif majeur et quantifiable.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La sélection des cas d'usage est une décision stratégique.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Équilibrer autonomie et contrôle est crucial pour la confiance.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114800"/>
            <a:ext cx="4572000" cy="201168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3840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La gestion des risques et l'acceptation sont impératifs de succès.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QUESTIONS &amp; ÉCHANGES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nvision - Template 2026">
  <a:themeElements>
    <a:clrScheme name="Simple Light">
      <a:dk1>
        <a:srgbClr val="000000"/>
      </a:dk1>
      <a:lt1>
        <a:srgbClr val="FFFFFF"/>
      </a:lt1>
      <a:dk2>
        <a:srgbClr val="5A5858"/>
      </a:dk2>
      <a:lt2>
        <a:srgbClr val="EEEEEE"/>
      </a:lt2>
      <a:accent1>
        <a:srgbClr val="C0504D"/>
      </a:accent1>
      <a:accent2>
        <a:srgbClr val="C0504D"/>
      </a:accent2>
      <a:accent3>
        <a:srgbClr val="FF6B58"/>
      </a:accent3>
      <a:accent4>
        <a:srgbClr val="389EA5"/>
      </a:accent4>
      <a:accent5>
        <a:srgbClr val="4A90E2"/>
      </a:accent5>
      <a:accent6>
        <a:srgbClr val="FBF0F4"/>
      </a:accent6>
      <a:hlink>
        <a:srgbClr val="3626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